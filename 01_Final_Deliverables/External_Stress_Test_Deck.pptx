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111"/>
    <p:restoredTop sz="94610"/>
  </p:normalViewPr>
  <p:slideViewPr>
    <p:cSldViewPr snapToGrid="0" snapToObjects="1">
      <p:cViewPr>
        <p:scale>
          <a:sx n="60" d="100"/>
          <a:sy n="60" d="100"/>
        </p:scale>
        <p:origin x="144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7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4300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Exchange-Rate Flexibility and External Adjustment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 Comparative Assessment of Bangladesh, Pakistan, and Vietnam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005840" cy="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8892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3B5C"/>
                </a:solidFill>
              </a:rPr>
              <a:t>Research question   </a:t>
            </a:r>
            <a:r>
              <a:rPr lang="en-US" sz="1400" dirty="0">
                <a:solidFill>
                  <a:srgbClr val="222222"/>
                </a:solidFill>
              </a:rPr>
              <a:t>How did Bangladesh's exchange-rate and reserve pressure dynamics evolve around its May 2025 move toward a more flexible exchange-rate arrangement, and what does a stylized external-shock stress test suggest about remaining vulnerabilities?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5410048" cy="2148840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8620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Bangladesh, why now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87952"/>
            <a:ext cx="49528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GB" sz="1250" dirty="0">
                <a:latin typeface="Arial" panose="020B0604020202020204" pitchFamily="34" charset="0"/>
                <a:cs typeface="Arial" panose="020B0604020202020204" pitchFamily="34" charset="0"/>
              </a:rPr>
              <a:t>Bangladesh Bank adjusted the exchange rate in May 2024, followed by the introduction of a crawling peg with band regime in mid-May 2025. </a:t>
            </a: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ongoing transition with limited existing empirical assessment.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3703320"/>
            <a:ext cx="5410048" cy="2148840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328" y="388620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Comparators: Pakistan &amp; Vietnam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07328" y="4187952"/>
            <a:ext cx="49528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to illustrate differences in exchange-rate management, external financing structure, reserve management, remittance dependence, and trade structure. They were not selected to imply structural similarity to Bangladesh.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solidFill>
            <a:srgbClr val="003B5C"/>
          </a:solidFill>
          <a:ln w="12700">
            <a:solidFill>
              <a:srgbClr val="003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Descriptive, non-causal assessment — an Exchange Market Pressure index plus a mechanical stress-test scenario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Empirical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&amp; sources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Countries: 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Bangladesh, Pakistan, Vietnam
</a:t>
            </a: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2018-M01 to 2026-M06 (monthly, common window); stress-test baseline 2025-Q2 to 2026-Q1
</a:t>
            </a: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variables: 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(excl. gold), nominal exchange rate, current account, goods exports/imports, remittances (BGD/PAK), global energy-price index
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3675888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IMF International Liquidity — reserves excluding gold
•  IMF Exchange Rates (ER) — nominal exchange rate, end-of-period
•  IMF Balance of Payments (BOP) — current account, goods trade
•  IMF World Economic Outlook — GDP growth, CPI (context only, not used as reform-window evidence)
•  IMF Primary Commodity Price System — global energy-price index
•  Bangladesh Bank / State Bank of Pakistan — national remittances
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5532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layers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</a:t>
            </a: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descriptive pre/post-reform event-window comparison   </a:t>
            </a:r>
            <a:r>
              <a:rPr lang="en-US" sz="11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 </a:t>
            </a: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mechanical 4-quarter stress-test scenario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5333695" cy="4709160"/>
          </a:xfrm>
          <a:prstGeom prst="rect">
            <a:avLst/>
          </a:prstGeom>
          <a:solidFill>
            <a:srgbClr val="D9EAF4"/>
          </a:solidFill>
          <a:ln w="12700">
            <a:solidFill>
              <a:srgbClr val="D9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5448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Market Pressure (EMP)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1901952"/>
            <a:ext cx="48764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Kaminsky, Lizondo &amp; Reinhart (1998), IMF Staff Papers — two-component index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514600"/>
            <a:ext cx="487649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72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514600"/>
            <a:ext cx="4876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EMPᵢ,ₜ = %Δeᵢ,ₜ − αᵢ × %Δrᵢ,ₜ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429000"/>
            <a:ext cx="487649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</a:t>
            </a: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currency per USD, end-of-period
</a:t>
            </a: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</a:t>
            </a: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International Liquidity reserves excluding gold
</a:t>
            </a: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αᵢ = </a:t>
            </a: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σ(%Δe) / σ(%Δr), estimated per country over the full common sample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5257800"/>
            <a:ext cx="487649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policy-rate data required. KLR's original crisis-dating threshold is not applied ; the continuous index is used descriptively only.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922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RESEARCH_LEDGER.md, DATA_DICTIONARY.md — full provenance and verification record.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3230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Exchange-Market Pressure Around the May 2025 Reform</a:t>
            </a:r>
            <a:endParaRPr lang="en-US" sz="2400" dirty="0"/>
          </a:p>
        </p:txBody>
      </p:sp>
      <p:pic>
        <p:nvPicPr>
          <p:cNvPr id="4" name="Image 0" descr="fig1_bgd_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7223760" cy="321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52729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EMP (KLR two-component index), 2018–2026; dashed line = May 2025 reform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46720" y="1298448"/>
            <a:ext cx="3642055" cy="676656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11312" y="1353312"/>
            <a:ext cx="33128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Pre-reform mean (12mo)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11312" y="1554480"/>
            <a:ext cx="33128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0.0072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046720" y="2048256"/>
            <a:ext cx="3642055" cy="676656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1312" y="2103120"/>
            <a:ext cx="33128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2025 (reform month)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11312" y="2304288"/>
            <a:ext cx="33128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0.0190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0" y="2798064"/>
            <a:ext cx="3642055" cy="676656"/>
          </a:xfrm>
          <a:prstGeom prst="rect">
            <a:avLst/>
          </a:prstGeom>
          <a:solidFill>
            <a:srgbClr val="D9EAF4"/>
          </a:solidFill>
          <a:ln w="12700">
            <a:solidFill>
              <a:srgbClr val="D9EA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1312" y="2852928"/>
            <a:ext cx="33128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Post-reform mean (12mo)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11312" y="3054096"/>
            <a:ext cx="33128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−0.0060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046720" y="3547872"/>
            <a:ext cx="3642055" cy="676656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1312" y="3602736"/>
            <a:ext cx="33128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historical mean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11312" y="3803904"/>
            <a:ext cx="33128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0.0037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046720" y="4352544"/>
            <a:ext cx="36420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2025 is not unusually large relative to the preceding 12-month empirical distribution.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5440680"/>
            <a:ext cx="11185855" cy="868680"/>
          </a:xfrm>
          <a:prstGeom prst="rect">
            <a:avLst/>
          </a:prstGeom>
          <a:solidFill>
            <a:srgbClr val="FDF2E9"/>
          </a:solidFill>
          <a:ln w="12700">
            <a:solidFill>
              <a:srgbClr val="FDF2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" y="5532120"/>
            <a:ext cx="107835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interpretive constraint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04087" y="5701284"/>
            <a:ext cx="107835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(−0.0023 → −0.0113) and Vietnam (0.0035 → 0.0000) show the same directional decline in mean EMP over the identical calendar window. Neither had a comparable reform. In this descriptive design, Bangladesh's pattern cannot be disentangled from common external conditions; the observed change is associated with, not attributed to, the May 2025 reform.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4922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emp_klr_two_component.csv, gate2_event_window_summary.csv, GATE2_ANALYSIS.md (locked). Descriptive only — not a causal estimate.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3230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Adjustment &amp; Vulnerability Channels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observed 4-quarter baseline (2025-Q2 to 2026-Q1, USD million)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6492240" cy="1493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acct.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Remittances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(12mo)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Bangladesh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42,477.2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66,594.0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34,748.9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Pakistan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30,913.0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62,457.0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40,589.9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Vietnam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494,755.0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458,784.0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31,023.0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127248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remittances: N/A  (no suitable nationwide monthly series available).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34564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GB" sz="1100" i="1" dirty="0">
                <a:latin typeface="Arial" panose="020B0604020202020204" pitchFamily="34" charset="0"/>
                <a:cs typeface="Arial" panose="020B0604020202020204" pitchFamily="34" charset="0"/>
              </a:rPr>
              <a:t>Bangladesh's near-zero current-account balance provides little offset to the scale of its trade flows in the stress-test baseline. </a:t>
            </a:r>
            <a:r>
              <a:rPr lang="en-US" sz="11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Slide 5).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0690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channels identified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4389120"/>
            <a:ext cx="6492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Reserve accumulation observed since the reform (e.g. Bangladesh, June 2025) should not be read as confirmation of durably reduced pressure; the same directional pattern appears in Pakistan and Vietnam.
•  Post-reform EMP movement is attributable mostly to the reserve component, not the exchange rate, which has moved in discrete, managed steps consistent with a crawling peg with band.
•  A global energy-price spike (2026-M03) falls inside the post-reform window.
</a:t>
            </a:r>
            <a:endParaRPr lang="en-US" sz="1080" dirty="0"/>
          </a:p>
        </p:txBody>
      </p:sp>
      <p:pic>
        <p:nvPicPr>
          <p:cNvPr id="10" name="Image 0" descr="fig4_energy_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4373575" cy="194381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0" y="3635451"/>
            <a:ext cx="4373575" cy="2423160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98080" y="3790899"/>
            <a:ext cx="4007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498080" y="4092651"/>
            <a:ext cx="4007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energy-price series is used as the mechanical import-price shock proxy in the stress test. A global benchmark is applied identically to all three countries instead of being country-specific.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64922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gate3_stress_test.csv, master_analytical_dataset.csv (locked). Descriptive only.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13230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STYLIZED SCENARIO — NOT A FORECAST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Four-Quarter External-Shock Stress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Shocks: remittances −10% (BGD/PAK only) · exports −5% (all three) · import value +10% (stylized, global energy-price shock, real quantities held constant) · baseline 2025-Q2 to 2026-Q1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45738" cy="2487168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545738" cy="457200"/>
          </a:xfrm>
          <a:prstGeom prst="rect">
            <a:avLst/>
          </a:prstGeom>
          <a:solidFill>
            <a:srgbClr val="003B5C"/>
          </a:solidFill>
          <a:ln w="12700">
            <a:solidFill>
              <a:srgbClr val="003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3545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external-account deterioration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−$12,258.1m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3227832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Mechanically shocked current account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−$12,097.1m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904488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Remittance + export + import-price shocks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322978" y="1783080"/>
            <a:ext cx="3545738" cy="2487168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2978" y="1783080"/>
            <a:ext cx="3545738" cy="457200"/>
          </a:xfrm>
          <a:prstGeom prst="rect">
            <a:avLst/>
          </a:prstGeom>
          <a:solidFill>
            <a:srgbClr val="003B5C"/>
          </a:solidFill>
          <a:ln w="12700">
            <a:solidFill>
              <a:srgbClr val="003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2978" y="1783080"/>
            <a:ext cx="3545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05858" y="237744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external-account deterioration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05858" y="269748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−$11,850.3m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05858" y="3227832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Mechanically shocked current account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05858" y="352044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−$11,400.4m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05858" y="3904488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Remittance + export + import-price shocks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143037" y="1783080"/>
            <a:ext cx="3545738" cy="2487168"/>
          </a:xfrm>
          <a:prstGeom prst="rect">
            <a:avLst/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3037" y="1783080"/>
            <a:ext cx="3545738" cy="457200"/>
          </a:xfrm>
          <a:prstGeom prst="rect">
            <a:avLst/>
          </a:prstGeom>
          <a:solidFill>
            <a:srgbClr val="003B5C"/>
          </a:solidFill>
          <a:ln w="12700">
            <a:solidFill>
              <a:srgbClr val="003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3037" y="1783080"/>
            <a:ext cx="3545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25917" y="237744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external-account deterioration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5917" y="269748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−$70,616.2m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25917" y="3227832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Mechanically shocked current account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5917" y="3520440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−$39,593.2m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25917" y="3904488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+ import-price shocks only — no remittance shock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443484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Policy-relevant implications (descriptive, not causal; countries not ranked)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4727448"/>
            <a:ext cx="11185855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 </a:t>
            </a:r>
            <a:r>
              <a:rPr lang="en-GB" sz="1050" dirty="0">
                <a:latin typeface="Arial" panose="020B0604020202020204" pitchFamily="34" charset="0"/>
                <a:cs typeface="Arial" panose="020B0604020202020204" pitchFamily="34" charset="0"/>
              </a:rPr>
              <a:t>Given their small baseline current-account surpluses relative to trade flows, the imposed combined shocks mechanically produce large external-account gaps in Bangladesh and Pakistan.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 These figures show implied cumulative deterioration over 4 quarters — not predicted reserve losses. Actual outcomes depend on financing, exchange-rate adjustment, capital flows, and policy response, none of which are modeled here.
•  Vietnam's remittance shock is marked N/A, not zero — no suitable nationwide monthly remittance series was available; its combined figure reflects two shocks, not three, and is not directly comparable to the other two countries'.
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943600"/>
            <a:ext cx="11185855" cy="384048"/>
          </a:xfrm>
          <a:prstGeom prst="rect">
            <a:avLst/>
          </a:prstGeom>
          <a:solidFill>
            <a:srgbClr val="FDF2E9"/>
          </a:solidFill>
          <a:ln w="12700">
            <a:solidFill>
              <a:srgbClr val="FDF2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943600"/>
            <a:ext cx="108200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9C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 descriptive, fixed-window design with no causal identification; shock magnitudes and the import-price transmission assumption are imposed, illustrative choices, not estimated parameters; external debt, REER, and policy rate are out of scope.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922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gate3_stress_test.csv, STRESS_TEST.md, FINAL_RESULTS_LOCKED.md R-005 (locked). Mechanical scenario — not a forecast.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3230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1157</Words>
  <Application>Microsoft Macintosh PowerPoint</Application>
  <PresentationFormat>Widescreen</PresentationFormat>
  <Paragraphs>101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Exchange-Rate Flexibility and External Adjustment</dc:title>
  <dc:subject>PptxGenJS Presentation</dc:subject>
  <dc:creator>Ziba Mahdi</dc:creator>
  <cp:lastModifiedBy>Ziba Mahdi</cp:lastModifiedBy>
  <cp:revision>4</cp:revision>
  <dcterms:created xsi:type="dcterms:W3CDTF">2026-10-05T22:03:21Z</dcterms:created>
  <dcterms:modified xsi:type="dcterms:W3CDTF">2026-10-06T19:48:28Z</dcterms:modified>
</cp:coreProperties>
</file>